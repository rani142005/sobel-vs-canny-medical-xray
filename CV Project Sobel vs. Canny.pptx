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Oswal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979280-C2BE-46B7-8A5F-E151332B6D0A}">
  <a:tblStyle styleId="{62979280-C2BE-46B7-8A5F-E151332B6D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Oswald-bold.fntdata"/><Relationship Id="rId12" Type="http://schemas.openxmlformats.org/officeDocument/2006/relationships/font" Target="fonts/Oswa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4944fadd2e29169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4944fadd2e29169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4944fadd2e2916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4944fadd2e2916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4944fadd2e29169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4944fadd2e2916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4944fadd2e29169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4944fadd2e2916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81534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6B26B"/>
                </a:solidFill>
                <a:latin typeface="Oswald"/>
                <a:ea typeface="Oswald"/>
                <a:cs typeface="Oswald"/>
                <a:sym typeface="Oswald"/>
              </a:rPr>
              <a:t>Boundary Detection </a:t>
            </a:r>
            <a:endParaRPr sz="3600">
              <a:solidFill>
                <a:srgbClr val="F6B26B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Sobel vs. Canny</a:t>
            </a:r>
            <a:endParaRPr>
              <a:solidFill>
                <a:srgbClr val="FFFF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effectLst>
            <a:outerShdw blurRad="57150" rotWithShape="0" algn="bl" dir="7800000" dist="9525">
              <a:srgbClr val="000000">
                <a:alpha val="82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4CCCC"/>
                </a:solidFill>
                <a:latin typeface="Oswald"/>
                <a:ea typeface="Oswald"/>
                <a:cs typeface="Oswald"/>
                <a:sym typeface="Oswald"/>
              </a:rPr>
              <a:t>A Comparative Study on Medical X-Ray Boundary Detection</a:t>
            </a:r>
            <a:endParaRPr sz="1800">
              <a:solidFill>
                <a:srgbClr val="F4CCCC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23950" y="3564200"/>
            <a:ext cx="4008300" cy="1229100"/>
          </a:xfrm>
          <a:prstGeom prst="rect">
            <a:avLst/>
          </a:prstGeom>
          <a:noFill/>
          <a:ln>
            <a:noFill/>
          </a:ln>
          <a:effectLst>
            <a:outerShdw blurRad="542925" rotWithShape="0" algn="bl" dir="6000000" dist="171450">
              <a:srgbClr val="000000"/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Jandhyala Aditya Tarun (010189)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Vanam Divesh Reddy (010247)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</a:rPr>
              <a:t>Rani Yadav (010308)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6B26B"/>
                </a:solidFill>
              </a:rPr>
              <a:t>ABSTRACT &amp; LITERATURE REVIEW </a:t>
            </a:r>
            <a:endParaRPr b="1">
              <a:solidFill>
                <a:srgbClr val="F6B26B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4CCCC"/>
                </a:solidFill>
              </a:rPr>
              <a:t>Objective:</a:t>
            </a:r>
            <a:r>
              <a:rPr lang="en-GB">
                <a:solidFill>
                  <a:schemeClr val="lt1"/>
                </a:solidFill>
              </a:rPr>
              <a:t> Compare Sobel and Canny edge detectors on chest X-rays.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4CCCC"/>
                </a:solidFill>
              </a:rPr>
              <a:t>Problem:</a:t>
            </a:r>
            <a:r>
              <a:rPr lang="en-GB">
                <a:solidFill>
                  <a:schemeClr val="lt1"/>
                </a:solidFill>
              </a:rPr>
              <a:t> Medical X-rays present low contrast, noise, and overlapping anatomical structures.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F4CCCC"/>
                </a:solidFill>
              </a:rPr>
              <a:t>Finding:</a:t>
            </a:r>
            <a:r>
              <a:rPr lang="en-GB">
                <a:solidFill>
                  <a:schemeClr val="lt1"/>
                </a:solidFill>
              </a:rPr>
              <a:t> Canny yields 1-pixel edges (1.87% density), and Sobel detects broader gradients (9.48% density)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4CCCC"/>
                </a:solidFill>
              </a:rPr>
              <a:t>Sobel (</a:t>
            </a:r>
            <a:r>
              <a:rPr lang="en-GB">
                <a:solidFill>
                  <a:srgbClr val="F4CCCC"/>
                </a:solidFill>
              </a:rPr>
              <a:t>1st-Order Gradient</a:t>
            </a:r>
            <a:r>
              <a:rPr b="1" lang="en-GB">
                <a:solidFill>
                  <a:srgbClr val="F4CCCC"/>
                </a:solidFill>
              </a:rPr>
              <a:t>):</a:t>
            </a:r>
            <a:endParaRPr b="1">
              <a:solidFill>
                <a:srgbClr val="F4CCC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</a:rPr>
              <a:t>Uses </a:t>
            </a:r>
            <a:r>
              <a:rPr lang="en-GB">
                <a:solidFill>
                  <a:schemeClr val="lt1"/>
                </a:solidFill>
              </a:rPr>
              <a:t>3x3</a:t>
            </a:r>
            <a:r>
              <a:rPr lang="en-GB" sz="1400">
                <a:solidFill>
                  <a:schemeClr val="lt1"/>
                </a:solidFill>
              </a:rPr>
              <a:t> kernels to measure intensity changes.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Pros</a:t>
            </a:r>
            <a:r>
              <a:rPr b="1" lang="en-GB">
                <a:solidFill>
                  <a:srgbClr val="F4CCCC"/>
                </a:solidFill>
              </a:rPr>
              <a:t> &amp; </a:t>
            </a:r>
            <a:r>
              <a:rPr b="1" lang="en-GB" sz="1400">
                <a:solidFill>
                  <a:srgbClr val="F4CCCC"/>
                </a:solidFill>
              </a:rPr>
              <a:t>Cons:</a:t>
            </a:r>
            <a:r>
              <a:rPr lang="en-GB" sz="1400">
                <a:solidFill>
                  <a:schemeClr val="lt1"/>
                </a:solidFill>
              </a:rPr>
              <a:t> it is </a:t>
            </a:r>
            <a:r>
              <a:rPr lang="en-GB">
                <a:solidFill>
                  <a:schemeClr val="lt1"/>
                </a:solidFill>
              </a:rPr>
              <a:t>f</a:t>
            </a:r>
            <a:r>
              <a:rPr lang="en-GB" sz="1400">
                <a:solidFill>
                  <a:schemeClr val="lt1"/>
                </a:solidFill>
              </a:rPr>
              <a:t>ast </a:t>
            </a:r>
            <a:r>
              <a:rPr lang="en-GB">
                <a:solidFill>
                  <a:schemeClr val="lt1"/>
                </a:solidFill>
              </a:rPr>
              <a:t>and </a:t>
            </a:r>
            <a:r>
              <a:rPr lang="en-GB" sz="1400">
                <a:solidFill>
                  <a:schemeClr val="lt1"/>
                </a:solidFill>
              </a:rPr>
              <a:t>computationally simple and highly sensitive to noise with thick edges.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4CCCC"/>
                </a:solidFill>
              </a:rPr>
              <a:t>Canny (</a:t>
            </a:r>
            <a:r>
              <a:rPr lang="en-GB">
                <a:solidFill>
                  <a:srgbClr val="F4CCCC"/>
                </a:solidFill>
              </a:rPr>
              <a:t>Multi Stage Optimal Detector</a:t>
            </a:r>
            <a:r>
              <a:rPr b="1" lang="en-GB">
                <a:solidFill>
                  <a:srgbClr val="F4CCCC"/>
                </a:solidFill>
              </a:rPr>
              <a:t>):</a:t>
            </a:r>
            <a:endParaRPr b="1">
              <a:solidFill>
                <a:srgbClr val="F4CCCC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</a:rPr>
              <a:t>Applies Gaussian smoothing, non</a:t>
            </a:r>
            <a:r>
              <a:rPr lang="en-GB">
                <a:solidFill>
                  <a:schemeClr val="lt1"/>
                </a:solidFill>
              </a:rPr>
              <a:t> </a:t>
            </a:r>
            <a:r>
              <a:rPr lang="en-GB" sz="1400">
                <a:solidFill>
                  <a:schemeClr val="lt1"/>
                </a:solidFill>
              </a:rPr>
              <a:t>maximum suppression, and hysteresis thresholding</a:t>
            </a:r>
            <a:r>
              <a:rPr lang="en-GB" sz="1400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Pros</a:t>
            </a:r>
            <a:r>
              <a:rPr b="1" lang="en-GB">
                <a:solidFill>
                  <a:srgbClr val="F4CCCC"/>
                </a:solidFill>
              </a:rPr>
              <a:t> &amp; </a:t>
            </a:r>
            <a:r>
              <a:rPr b="1" lang="en-GB" sz="1400">
                <a:solidFill>
                  <a:srgbClr val="F4CCCC"/>
                </a:solidFill>
              </a:rPr>
              <a:t>Cons:</a:t>
            </a:r>
            <a:r>
              <a:rPr lang="en-GB" sz="1400">
                <a:solidFill>
                  <a:srgbClr val="F4CCCC"/>
                </a:solidFill>
              </a:rPr>
              <a:t> </a:t>
            </a:r>
            <a:r>
              <a:rPr lang="en-GB">
                <a:solidFill>
                  <a:schemeClr val="lt1"/>
                </a:solidFill>
              </a:rPr>
              <a:t>it has h</a:t>
            </a:r>
            <a:r>
              <a:rPr lang="en-GB" sz="1400">
                <a:solidFill>
                  <a:schemeClr val="lt1"/>
                </a:solidFill>
              </a:rPr>
              <a:t>igh noise immunity </a:t>
            </a:r>
            <a:r>
              <a:rPr lang="en-GB">
                <a:solidFill>
                  <a:schemeClr val="lt1"/>
                </a:solidFill>
              </a:rPr>
              <a:t>and</a:t>
            </a:r>
            <a:r>
              <a:rPr lang="en-GB" sz="1400">
                <a:solidFill>
                  <a:schemeClr val="lt1"/>
                </a:solidFill>
              </a:rPr>
              <a:t> clean 1-pixel contours </a:t>
            </a:r>
            <a:r>
              <a:rPr lang="en-GB">
                <a:solidFill>
                  <a:schemeClr val="lt1"/>
                </a:solidFill>
              </a:rPr>
              <a:t>but</a:t>
            </a:r>
            <a:r>
              <a:rPr lang="en-GB" sz="1400">
                <a:solidFill>
                  <a:schemeClr val="lt1"/>
                </a:solidFill>
              </a:rPr>
              <a:t> may drop weak soft</a:t>
            </a:r>
            <a:r>
              <a:rPr lang="en-GB">
                <a:solidFill>
                  <a:schemeClr val="lt1"/>
                </a:solidFill>
              </a:rPr>
              <a:t> </a:t>
            </a:r>
            <a:r>
              <a:rPr lang="en-GB" sz="1400">
                <a:solidFill>
                  <a:schemeClr val="lt1"/>
                </a:solidFill>
              </a:rPr>
              <a:t>edges.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441300" y="404075"/>
            <a:ext cx="51834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6B26B"/>
                </a:solidFill>
              </a:rPr>
              <a:t>METHODOLOGY</a:t>
            </a:r>
            <a:endParaRPr sz="2500">
              <a:solidFill>
                <a:srgbClr val="F6B26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Dataset:</a:t>
            </a:r>
            <a:r>
              <a:rPr lang="en-GB" sz="1400">
                <a:solidFill>
                  <a:schemeClr val="lt1"/>
                </a:solidFill>
              </a:rPr>
              <a:t> 100 chest X-rays (50 Normal, 50 Pneumonia) from Kaggle.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Preprocessing:</a:t>
            </a:r>
            <a:r>
              <a:rPr lang="en-GB" sz="1400">
                <a:solidFill>
                  <a:schemeClr val="lt1"/>
                </a:solidFill>
              </a:rPr>
              <a:t> Standardized to 512x512 grayscale image + </a:t>
            </a:r>
            <a:r>
              <a:rPr lang="en-GB" sz="1400">
                <a:solidFill>
                  <a:schemeClr val="lt1"/>
                </a:solidFill>
              </a:rPr>
              <a:t>5x5</a:t>
            </a:r>
            <a:r>
              <a:rPr lang="en-GB" sz="1400">
                <a:solidFill>
                  <a:schemeClr val="lt1"/>
                </a:solidFill>
              </a:rPr>
              <a:t> Gaussian blur where sigma = 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F4CCCC"/>
                </a:solidFill>
              </a:rPr>
              <a:t>Sobel Setup:</a:t>
            </a:r>
            <a:r>
              <a:rPr lang="en-GB" sz="1400">
                <a:solidFill>
                  <a:schemeClr val="lt1"/>
                </a:solidFill>
              </a:rPr>
              <a:t> 3x3 gradient magnitude kernels (Gx, Gy) with binary threshold T = 50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Canny Setup:</a:t>
            </a:r>
            <a:r>
              <a:rPr lang="en-GB" sz="1400">
                <a:solidFill>
                  <a:schemeClr val="lt1"/>
                </a:solidFill>
              </a:rPr>
              <a:t> Dual threshold hysteresis where T1 = 50, T</a:t>
            </a:r>
            <a:r>
              <a:rPr lang="en-GB" sz="1400">
                <a:solidFill>
                  <a:schemeClr val="lt1"/>
                </a:solidFill>
              </a:rPr>
              <a:t>2</a:t>
            </a:r>
            <a:r>
              <a:rPr lang="en-GB" sz="1400">
                <a:solidFill>
                  <a:schemeClr val="lt1"/>
                </a:solidFill>
              </a:rPr>
              <a:t> = 150 with non maximum suppression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Metrics:</a:t>
            </a:r>
            <a:r>
              <a:rPr lang="en-GB" sz="1400">
                <a:solidFill>
                  <a:schemeClr val="lt1"/>
                </a:solidFill>
              </a:rPr>
              <a:t> Edge Density (%) edge pixels / total pixels and Execution Time (ms).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69" name="Google Shape;69;p15" title="3c1932c3-01cc-4732-9186-2779c302074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75" y="359188"/>
            <a:ext cx="3136501" cy="4180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555600"/>
            <a:ext cx="4158900" cy="64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6B26B"/>
                </a:solidFill>
              </a:rPr>
              <a:t>RESULTS &amp; CONCLUSIONS</a:t>
            </a:r>
            <a:endParaRPr b="1" sz="2500">
              <a:solidFill>
                <a:srgbClr val="F6B26B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311300"/>
            <a:ext cx="4158900" cy="3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F4CCCC"/>
                </a:solidFill>
              </a:rPr>
              <a:t>Canny is Superior for Segmentation:</a:t>
            </a:r>
            <a:r>
              <a:rPr lang="en-GB" sz="1400">
                <a:solidFill>
                  <a:schemeClr val="lt1"/>
                </a:solidFill>
              </a:rPr>
              <a:t> it provides clean 1-pixel contours and effectively suppresses uniform soft noise.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rgbClr val="F4CCCC"/>
                </a:solidFill>
              </a:rPr>
              <a:t>Sobel Captures Soft Gradients:</a:t>
            </a:r>
            <a:r>
              <a:rPr lang="en-GB" sz="1400">
                <a:solidFill>
                  <a:schemeClr val="lt1"/>
                </a:solidFill>
              </a:rPr>
              <a:t> it is useful for fast gradient magnitude estimation, but it produces thick, unrefined edges requiring thinning.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rgbClr val="F4CCCC"/>
                </a:solidFill>
              </a:rPr>
              <a:t>Clinical Application:</a:t>
            </a:r>
            <a:r>
              <a:rPr lang="en-GB" sz="1400">
                <a:solidFill>
                  <a:srgbClr val="F4CCCC"/>
                </a:solidFill>
              </a:rPr>
              <a:t> </a:t>
            </a:r>
            <a:r>
              <a:rPr lang="en-GB" sz="1400">
                <a:solidFill>
                  <a:schemeClr val="lt1"/>
                </a:solidFill>
              </a:rPr>
              <a:t>Canny is the ideal preprocessing step for automated medical image analysis and lung boundary extraction.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76" name="Google Shape;76;p16" title="f7607dc9-17c9-49d7-bbd8-5801101cc4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700" y="555600"/>
            <a:ext cx="4013400" cy="401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7" name="Google Shape;77;p16"/>
          <p:cNvGraphicFramePr/>
          <p:nvPr/>
        </p:nvGraphicFramePr>
        <p:xfrm>
          <a:off x="4715175" y="1311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{62979280-C2BE-46B7-8A5F-E151332B6D0A}</a:tableStyleId>
              </a:tblPr>
              <a:tblGrid>
                <a:gridCol w="1290150"/>
                <a:gridCol w="1290150"/>
                <a:gridCol w="129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4CCCC"/>
                          </a:solidFill>
                        </a:rPr>
                        <a:t>Metric</a:t>
                      </a:r>
                      <a:endParaRPr>
                        <a:solidFill>
                          <a:srgbClr val="F4CCCC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4CCCC"/>
                          </a:solidFill>
                        </a:rPr>
                        <a:t>Sobel</a:t>
                      </a:r>
                      <a:endParaRPr>
                        <a:solidFill>
                          <a:srgbClr val="F4CCCC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4CCCC"/>
                          </a:solidFill>
                        </a:rPr>
                        <a:t>Canny</a:t>
                      </a:r>
                      <a:endParaRPr>
                        <a:solidFill>
                          <a:srgbClr val="F4CCCC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6B26B"/>
                          </a:solidFill>
                        </a:rPr>
                        <a:t>Avg. speed</a:t>
                      </a:r>
                      <a:endParaRPr>
                        <a:solidFill>
                          <a:srgbClr val="F6B26B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2.23ms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0.99ms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6B26B"/>
                          </a:solidFill>
                        </a:rPr>
                        <a:t>Avg. Density</a:t>
                      </a:r>
                      <a:endParaRPr>
                        <a:solidFill>
                          <a:srgbClr val="F6B26B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9.48%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lt1"/>
                          </a:solidFill>
                        </a:rPr>
                        <a:t>1.87%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F6B26B"/>
                </a:solidFill>
              </a:rPr>
              <a:t>REFERENCES:</a:t>
            </a:r>
            <a:endParaRPr b="1" sz="2500">
              <a:solidFill>
                <a:srgbClr val="F6B26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lt1"/>
                </a:solidFill>
              </a:rPr>
              <a:t>Canny, J.</a:t>
            </a:r>
            <a:r>
              <a:rPr lang="en-GB" sz="1400">
                <a:solidFill>
                  <a:schemeClr val="lt1"/>
                </a:solidFill>
              </a:rPr>
              <a:t> (1986). </a:t>
            </a:r>
            <a:r>
              <a:rPr i="1" lang="en-GB" sz="1400">
                <a:solidFill>
                  <a:schemeClr val="lt1"/>
                </a:solidFill>
              </a:rPr>
              <a:t>A Computational Approach to Edge Detection</a:t>
            </a:r>
            <a:r>
              <a:rPr lang="en-GB" sz="1400">
                <a:solidFill>
                  <a:schemeClr val="lt1"/>
                </a:solidFill>
              </a:rPr>
              <a:t>. IEEE Transactions on Pattern Analysis and Machine Intelligence, 8(6), 679–698.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lt1"/>
                </a:solidFill>
              </a:rPr>
              <a:t>Sobel, I., &amp; Feldman, G.</a:t>
            </a:r>
            <a:r>
              <a:rPr lang="en-GB" sz="1400">
                <a:solidFill>
                  <a:schemeClr val="lt1"/>
                </a:solidFill>
              </a:rPr>
              <a:t> (1968). </a:t>
            </a:r>
            <a:r>
              <a:rPr i="1" lang="en-GB" sz="1400">
                <a:solidFill>
                  <a:schemeClr val="lt1"/>
                </a:solidFill>
              </a:rPr>
              <a:t>A 3x3 Isotropic Gradient Operator for Image Processing</a:t>
            </a:r>
            <a:r>
              <a:rPr lang="en-GB" sz="1400">
                <a:solidFill>
                  <a:schemeClr val="lt1"/>
                </a:solidFill>
              </a:rPr>
              <a:t>. Stanford Artificial Intelligence Project.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lt1"/>
                </a:solidFill>
              </a:rPr>
              <a:t>Mooney, P.</a:t>
            </a:r>
            <a:r>
              <a:rPr lang="en-GB" sz="1400">
                <a:solidFill>
                  <a:schemeClr val="lt1"/>
                </a:solidFill>
              </a:rPr>
              <a:t> (2018). Chest X-Ray Images (Pneumonia) Dataset. Kaggle.</a:t>
            </a:r>
            <a:endParaRPr sz="14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